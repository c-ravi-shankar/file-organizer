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1" r:id="rId2"/>
    <p:sldId id="257" r:id="rId3"/>
    <p:sldId id="258" r:id="rId4"/>
    <p:sldId id="260" r:id="rId5"/>
    <p:sldId id="262" r:id="rId6"/>
    <p:sldId id="259" r:id="rId7"/>
    <p:sldId id="263" r:id="rId8"/>
    <p:sldId id="268" r:id="rId9"/>
    <p:sldId id="267" r:id="rId10"/>
    <p:sldId id="266" r:id="rId11"/>
    <p:sldId id="265" r:id="rId12"/>
    <p:sldId id="270" r:id="rId13"/>
    <p:sldId id="269" r:id="rId14"/>
    <p:sldId id="264"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12CE18-631B-4C83-8441-8F189C99DC39}" type="datetimeFigureOut">
              <a:rPr lang="en-IN" smtClean="0"/>
              <a:t>26-11-2023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D9EE4-9407-4C9A-B136-89955EFBC740}" type="slidenum">
              <a:rPr lang="en-IN" smtClean="0"/>
              <a:t>‹#›</a:t>
            </a:fld>
            <a:endParaRPr lang="en-IN"/>
          </a:p>
        </p:txBody>
      </p:sp>
    </p:spTree>
    <p:extLst>
      <p:ext uri="{BB962C8B-B14F-4D97-AF65-F5344CB8AC3E}">
        <p14:creationId xmlns:p14="http://schemas.microsoft.com/office/powerpoint/2010/main" val="1483032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9DB86-6E1B-46D5-873D-EC58485E2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DACC61-F8B1-446C-895D-410F52435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B7B20D-513D-4F4E-9A57-F4C8BE11A01D}"/>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E2690966-D78B-41F0-B806-BC21DAAB0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E21DE1-0F45-46C7-AB21-48DED05F8931}"/>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40218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A7DD-C72D-4FE3-9E75-97AE49D93B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75FE6A-C539-473C-A672-08E1539B90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0BDA71-7F89-473C-8ABE-AC5729E042A5}"/>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D27783CE-33B3-42D2-8BE3-C1BE277DF4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93114-E4DE-4D13-8348-A0E36C4446BC}"/>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81133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64DD8-23EE-4172-AB15-E03A92A127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24C33F-3689-4AFA-8716-7C0548A95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8F3D75C-83FE-4FD6-AFBE-DEC01FABC8B5}"/>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EE47D2D0-6B90-479F-8ACD-3ED11C213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1BCD6A-F5CD-44F3-906A-4BCD14E605B9}"/>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1463868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16F8-C0B4-4BD8-B1AE-C82E3BC000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F6B274-3132-471B-B7A2-E1359A209B1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6C6398-4C8E-4CAF-AA07-D563A1D1A49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AB00C1-3F73-42F0-B3B4-C75CAA549645}"/>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6" name="Footer Placeholder 5">
            <a:extLst>
              <a:ext uri="{FF2B5EF4-FFF2-40B4-BE49-F238E27FC236}">
                <a16:creationId xmlns:a16="http://schemas.microsoft.com/office/drawing/2014/main" id="{9A2AB59D-CD4F-4E5D-A18F-23A7732568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4315F3-249B-49DD-93FC-867833B9CF38}"/>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2270242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19D69-80AE-4D6B-BCC0-F0C8646D36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16C714-D4DF-4330-A0FB-C10E758BA7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9B35447-35C7-472A-AD60-40681B3BE17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CFED87-9A8B-4E40-828B-EA5FA72933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1EF0D07-C4DD-46A0-BD36-80DFD0BF187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844EFD-32BD-414E-93C3-C349322D7131}"/>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8" name="Footer Placeholder 7">
            <a:extLst>
              <a:ext uri="{FF2B5EF4-FFF2-40B4-BE49-F238E27FC236}">
                <a16:creationId xmlns:a16="http://schemas.microsoft.com/office/drawing/2014/main" id="{F192405A-C246-4A64-9EF5-C7E628C3C9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D0CDE-956D-4EE8-9FA4-837D6F5289C7}"/>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3088335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1D6A-1826-445B-85B3-63139A5CE1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EA05D7-6F06-4688-9037-BD6B787D4DC9}"/>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4" name="Footer Placeholder 3">
            <a:extLst>
              <a:ext uri="{FF2B5EF4-FFF2-40B4-BE49-F238E27FC236}">
                <a16:creationId xmlns:a16="http://schemas.microsoft.com/office/drawing/2014/main" id="{D949B325-E83C-420D-B5AE-CE1ABCA9AB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9F7876-C9AA-410F-8188-154D3F0C8D7A}"/>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1005694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47DE8-AF5B-4E03-96A8-0C2DCC5CA477}"/>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3" name="Footer Placeholder 2">
            <a:extLst>
              <a:ext uri="{FF2B5EF4-FFF2-40B4-BE49-F238E27FC236}">
                <a16:creationId xmlns:a16="http://schemas.microsoft.com/office/drawing/2014/main" id="{41E64752-06CE-4F13-90B2-C76372A3C8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5C65B6-6E12-4623-876F-81A6E5319B3F}"/>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221580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B67A-205F-40D3-8DCA-EF598C8245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B454EF-F69A-454D-851B-63B9F5F8D6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2F59B3-8F7B-47F7-AEA9-411CE0A564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B50250-756E-4891-AB01-66FB120349F0}"/>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6" name="Footer Placeholder 5">
            <a:extLst>
              <a:ext uri="{FF2B5EF4-FFF2-40B4-BE49-F238E27FC236}">
                <a16:creationId xmlns:a16="http://schemas.microsoft.com/office/drawing/2014/main" id="{581CD4F0-C096-4804-B8F3-6A0D808624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315E4-A2D6-4683-8BF8-4912EFAD3E0B}"/>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96081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2EA20-FF44-4952-9F68-734478F78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09898D-C406-420D-A378-EC69108864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48F0B8-F108-4F50-90B8-BE1E73153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B72B470-7D90-4C23-9EB1-E75B7C8AE7C1}"/>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6" name="Footer Placeholder 5">
            <a:extLst>
              <a:ext uri="{FF2B5EF4-FFF2-40B4-BE49-F238E27FC236}">
                <a16:creationId xmlns:a16="http://schemas.microsoft.com/office/drawing/2014/main" id="{E01132A7-933A-4C99-82B1-CDE4808746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70667B-C0F9-4A70-83C4-749F6E448981}"/>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286687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8ECF-CA77-41A2-B6C1-DADCE6B0EA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BB9835-E482-45AF-B71F-CE6D6B575B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C105F0-2B8C-47E6-AF35-6D7FB903991B}"/>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F7620457-75DE-4306-9C83-A97CD13E83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FBDFA8-B8DB-4DB1-987A-910A8476F55C}"/>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1360953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238E6F-7745-4858-8EB4-402B7EC1BD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BADBCC-DA84-43BF-BFBA-FECA8DFAEEF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6B5B4E-4A6E-487D-B53E-D16252FF1E4A}"/>
              </a:ext>
            </a:extLst>
          </p:cNvPr>
          <p:cNvSpPr>
            <a:spLocks noGrp="1"/>
          </p:cNvSpPr>
          <p:nvPr>
            <p:ph type="dt" sz="half" idx="10"/>
          </p:nvPr>
        </p:nvSpPr>
        <p:spPr/>
        <p:txBody>
          <a:body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B202C811-123A-42CE-BB5E-0C8BC8AE23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2873E4-0752-4FA1-B2C0-F39B1F64DB74}"/>
              </a:ext>
            </a:extLst>
          </p:cNvPr>
          <p:cNvSpPr>
            <a:spLocks noGrp="1"/>
          </p:cNvSpPr>
          <p:nvPr>
            <p:ph type="sldNum" sz="quarter" idx="12"/>
          </p:nvPr>
        </p:nvSpPr>
        <p:spPr/>
        <p:txBody>
          <a:bodyPr/>
          <a:lstStyle/>
          <a:p>
            <a:fld id="{5A90C92A-F604-4694-927F-B2719D8F1A13}" type="slidenum">
              <a:rPr lang="en-IN" smtClean="0"/>
              <a:t>‹#›</a:t>
            </a:fld>
            <a:endParaRPr lang="en-IN"/>
          </a:p>
        </p:txBody>
      </p:sp>
    </p:spTree>
    <p:extLst>
      <p:ext uri="{BB962C8B-B14F-4D97-AF65-F5344CB8AC3E}">
        <p14:creationId xmlns:p14="http://schemas.microsoft.com/office/powerpoint/2010/main" val="3435538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42342-E18E-4F26-AE82-119FF92ADF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608F12-9EC2-4076-883D-223C3BD059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9A505A-84CE-4938-BC3D-5B1FFF29BC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2F0C1-14A4-4566-B3D3-8C3E83999792}" type="datetimeFigureOut">
              <a:rPr lang="en-IN" smtClean="0"/>
              <a:t>26-11-2023</a:t>
            </a:fld>
            <a:endParaRPr lang="en-IN"/>
          </a:p>
        </p:txBody>
      </p:sp>
      <p:sp>
        <p:nvSpPr>
          <p:cNvPr id="5" name="Footer Placeholder 4">
            <a:extLst>
              <a:ext uri="{FF2B5EF4-FFF2-40B4-BE49-F238E27FC236}">
                <a16:creationId xmlns:a16="http://schemas.microsoft.com/office/drawing/2014/main" id="{834460FE-8C81-4EFC-BE3E-0D6FE55CC7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1D29DE-C566-4AAA-9A8B-2FADDA2AA4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0C92A-F604-4694-927F-B2719D8F1A13}" type="slidenum">
              <a:rPr lang="en-IN" smtClean="0"/>
              <a:t>‹#›</a:t>
            </a:fld>
            <a:endParaRPr lang="en-IN"/>
          </a:p>
        </p:txBody>
      </p:sp>
    </p:spTree>
    <p:extLst>
      <p:ext uri="{BB962C8B-B14F-4D97-AF65-F5344CB8AC3E}">
        <p14:creationId xmlns:p14="http://schemas.microsoft.com/office/powerpoint/2010/main" val="3340716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J._K._Rowlin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poison-ivy-alice.deviantart.com/art/harry-and-hermione-187413239"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www.tafce.com/index.php?title=Voldemort"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www.wired.it/play/cinema/2016/02/01/harry-potter-rowling-scuole-magi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eftristan.blogspot.com/2019/04/bienvenidos-al-quidditch-muggle.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www.pexels.com/photo/antique-express-harry-potter-hogwarts-182721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CCEDE62B-CE40-4E04-A228-3367619B498E}"/>
              </a:ext>
            </a:extLst>
          </p:cNvPr>
          <p:cNvSpPr txBox="1"/>
          <p:nvPr/>
        </p:nvSpPr>
        <p:spPr>
          <a:xfrm>
            <a:off x="-322730" y="358590"/>
            <a:ext cx="7297271" cy="2554545"/>
          </a:xfrm>
          <a:prstGeom prst="rect">
            <a:avLst/>
          </a:prstGeom>
          <a:noFill/>
        </p:spPr>
        <p:txBody>
          <a:bodyPr wrap="square" rtlCol="0">
            <a:spAutoFit/>
          </a:bodyPr>
          <a:lstStyle/>
          <a:p>
            <a:pPr algn="ctr"/>
            <a:r>
              <a:rPr lang="en-US" sz="4000" b="1" dirty="0">
                <a:solidFill>
                  <a:schemeClr val="tx2">
                    <a:lumMod val="60000"/>
                    <a:lumOff val="40000"/>
                  </a:schemeClr>
                </a:solidFill>
                <a:latin typeface="Chiller" panose="04020404031007020602" pitchFamily="82" charset="0"/>
              </a:rPr>
              <a:t>DESIGN THINKING &amp; </a:t>
            </a:r>
            <a:br>
              <a:rPr lang="en-US" sz="4000" b="1" dirty="0">
                <a:solidFill>
                  <a:schemeClr val="tx2">
                    <a:lumMod val="60000"/>
                    <a:lumOff val="40000"/>
                  </a:schemeClr>
                </a:solidFill>
                <a:latin typeface="Chiller" panose="04020404031007020602" pitchFamily="82" charset="0"/>
              </a:rPr>
            </a:br>
            <a:r>
              <a:rPr lang="en-US" sz="4000" b="1" dirty="0">
                <a:solidFill>
                  <a:schemeClr val="tx2">
                    <a:lumMod val="60000"/>
                    <a:lumOff val="40000"/>
                  </a:schemeClr>
                </a:solidFill>
                <a:latin typeface="Chiller" panose="04020404031007020602" pitchFamily="82" charset="0"/>
              </a:rPr>
              <a:t>INNOVATION</a:t>
            </a:r>
            <a:br>
              <a:rPr lang="en-US" sz="4000" b="1" dirty="0">
                <a:solidFill>
                  <a:schemeClr val="tx2">
                    <a:lumMod val="60000"/>
                    <a:lumOff val="40000"/>
                  </a:schemeClr>
                </a:solidFill>
                <a:latin typeface="Chiller" panose="04020404031007020602" pitchFamily="82" charset="0"/>
              </a:rPr>
            </a:br>
            <a:br>
              <a:rPr lang="en-US" sz="4000" b="1" dirty="0">
                <a:solidFill>
                  <a:schemeClr val="tx2">
                    <a:lumMod val="60000"/>
                    <a:lumOff val="40000"/>
                  </a:schemeClr>
                </a:solidFill>
                <a:latin typeface="Chiller" panose="04020404031007020602" pitchFamily="82" charset="0"/>
              </a:rPr>
            </a:br>
            <a:r>
              <a:rPr lang="en-US" sz="4000" b="1" dirty="0">
                <a:solidFill>
                  <a:schemeClr val="tx2">
                    <a:lumMod val="60000"/>
                    <a:lumOff val="40000"/>
                  </a:schemeClr>
                </a:solidFill>
                <a:latin typeface="Chiller" panose="04020404031007020602" pitchFamily="82" charset="0"/>
              </a:rPr>
              <a:t>HARRY  POTTER</a:t>
            </a:r>
            <a:endParaRPr lang="en-IN" sz="4000" b="1" dirty="0">
              <a:solidFill>
                <a:schemeClr val="tx2">
                  <a:lumMod val="60000"/>
                  <a:lumOff val="40000"/>
                </a:schemeClr>
              </a:solidFill>
              <a:latin typeface="Chiller" panose="04020404031007020602" pitchFamily="82" charset="0"/>
            </a:endParaRPr>
          </a:p>
        </p:txBody>
      </p:sp>
      <p:sp>
        <p:nvSpPr>
          <p:cNvPr id="4" name="TextBox 3">
            <a:extLst>
              <a:ext uri="{FF2B5EF4-FFF2-40B4-BE49-F238E27FC236}">
                <a16:creationId xmlns:a16="http://schemas.microsoft.com/office/drawing/2014/main" id="{A2E95A46-5266-4EA8-BAEB-C32665730776}"/>
              </a:ext>
            </a:extLst>
          </p:cNvPr>
          <p:cNvSpPr txBox="1"/>
          <p:nvPr/>
        </p:nvSpPr>
        <p:spPr>
          <a:xfrm>
            <a:off x="8449234" y="191707"/>
            <a:ext cx="3505201" cy="1200329"/>
          </a:xfrm>
          <a:prstGeom prst="rect">
            <a:avLst/>
          </a:prstGeom>
          <a:noFill/>
        </p:spPr>
        <p:txBody>
          <a:bodyPr wrap="square" rtlCol="0">
            <a:spAutoFit/>
          </a:bodyPr>
          <a:lstStyle/>
          <a:p>
            <a:pPr algn="ctr"/>
            <a:r>
              <a:rPr lang="en-US" sz="2400" dirty="0">
                <a:solidFill>
                  <a:schemeClr val="bg1"/>
                </a:solidFill>
                <a:latin typeface="Chiller" panose="04020404031007020602" pitchFamily="82" charset="0"/>
              </a:rPr>
              <a:t>PRESENTATION BY:</a:t>
            </a:r>
          </a:p>
          <a:p>
            <a:pPr algn="ctr"/>
            <a:r>
              <a:rPr lang="en-US" sz="2400" dirty="0">
                <a:solidFill>
                  <a:schemeClr val="bg1"/>
                </a:solidFill>
                <a:latin typeface="Chiller" panose="04020404031007020602" pitchFamily="82" charset="0"/>
              </a:rPr>
              <a:t>                       D. MURALI </a:t>
            </a:r>
          </a:p>
          <a:p>
            <a:pPr algn="ctr"/>
            <a:r>
              <a:rPr lang="en-US" sz="2400" dirty="0">
                <a:solidFill>
                  <a:schemeClr val="bg1"/>
                </a:solidFill>
                <a:latin typeface="Chiller" panose="04020404031007020602" pitchFamily="82" charset="0"/>
              </a:rPr>
              <a:t>		22091A0258</a:t>
            </a:r>
            <a:endParaRPr lang="en-IN" sz="2400" dirty="0">
              <a:solidFill>
                <a:schemeClr val="bg1"/>
              </a:solidFill>
              <a:latin typeface="Chiller" panose="04020404031007020602" pitchFamily="82" charset="0"/>
            </a:endParaRPr>
          </a:p>
        </p:txBody>
      </p:sp>
    </p:spTree>
    <p:extLst>
      <p:ext uri="{BB962C8B-B14F-4D97-AF65-F5344CB8AC3E}">
        <p14:creationId xmlns:p14="http://schemas.microsoft.com/office/powerpoint/2010/main" val="3709315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4" name="TextBox 3">
            <a:extLst>
              <a:ext uri="{FF2B5EF4-FFF2-40B4-BE49-F238E27FC236}">
                <a16:creationId xmlns:a16="http://schemas.microsoft.com/office/drawing/2014/main" id="{54781A71-36D3-42CF-8C25-B09DBC4E5E44}"/>
              </a:ext>
            </a:extLst>
          </p:cNvPr>
          <p:cNvSpPr txBox="1"/>
          <p:nvPr/>
        </p:nvSpPr>
        <p:spPr>
          <a:xfrm>
            <a:off x="403410" y="851647"/>
            <a:ext cx="3908613" cy="400110"/>
          </a:xfrm>
          <a:prstGeom prst="rect">
            <a:avLst/>
          </a:prstGeom>
          <a:noFill/>
        </p:spPr>
        <p:txBody>
          <a:bodyPr wrap="square" rtlCol="0">
            <a:spAutoFit/>
          </a:bodyPr>
          <a:lstStyle/>
          <a:p>
            <a:r>
              <a:rPr lang="en-US" sz="2000" dirty="0">
                <a:solidFill>
                  <a:schemeClr val="accent6"/>
                </a:solidFill>
                <a:latin typeface="Constantia" panose="02030602050306030303" pitchFamily="18" charset="0"/>
              </a:rPr>
              <a:t>Introduction to Harry Potter :</a:t>
            </a:r>
            <a:endParaRPr lang="en-IN" sz="2000" dirty="0">
              <a:solidFill>
                <a:schemeClr val="accent6"/>
              </a:solidFill>
            </a:endParaRPr>
          </a:p>
        </p:txBody>
      </p:sp>
      <p:sp>
        <p:nvSpPr>
          <p:cNvPr id="5" name="TextBox 4">
            <a:extLst>
              <a:ext uri="{FF2B5EF4-FFF2-40B4-BE49-F238E27FC236}">
                <a16:creationId xmlns:a16="http://schemas.microsoft.com/office/drawing/2014/main" id="{B1E0420D-3AB2-4C9E-9A7F-F304E3C48976}"/>
              </a:ext>
            </a:extLst>
          </p:cNvPr>
          <p:cNvSpPr txBox="1"/>
          <p:nvPr/>
        </p:nvSpPr>
        <p:spPr>
          <a:xfrm>
            <a:off x="403410" y="1550894"/>
            <a:ext cx="7386919" cy="1754326"/>
          </a:xfrm>
          <a:prstGeom prst="rect">
            <a:avLst/>
          </a:prstGeom>
          <a:noFill/>
        </p:spPr>
        <p:txBody>
          <a:bodyPr wrap="square" rtlCol="0">
            <a:spAutoFit/>
          </a:bodyPr>
          <a:lstStyle/>
          <a:p>
            <a:pPr marL="285750" indent="-285750">
              <a:buFont typeface="Courier New" panose="02070309020205020404" pitchFamily="49" charset="0"/>
              <a:buChar char="o"/>
            </a:pPr>
            <a:r>
              <a:rPr lang="en-US" b="1" i="1" dirty="0">
                <a:solidFill>
                  <a:schemeClr val="tx2">
                    <a:lumMod val="60000"/>
                    <a:lumOff val="40000"/>
                  </a:schemeClr>
                </a:solidFill>
                <a:latin typeface="Bell MT" panose="02020503060305020303" pitchFamily="18" charset="0"/>
              </a:rPr>
              <a:t>Harry Potter</a:t>
            </a:r>
            <a:r>
              <a:rPr lang="en-US" dirty="0">
                <a:solidFill>
                  <a:schemeClr val="tx2">
                    <a:lumMod val="60000"/>
                    <a:lumOff val="40000"/>
                  </a:schemeClr>
                </a:solidFill>
                <a:latin typeface="Bell MT" panose="02020503060305020303" pitchFamily="18" charset="0"/>
              </a:rPr>
              <a:t> is a series of seven fantasy novels written by British author </a:t>
            </a:r>
            <a:r>
              <a:rPr lang="en-US" dirty="0">
                <a:solidFill>
                  <a:schemeClr val="tx2">
                    <a:lumMod val="60000"/>
                    <a:lumOff val="40000"/>
                  </a:schemeClr>
                </a:solidFill>
                <a:latin typeface="Bell MT" panose="02020503060305020303" pitchFamily="18" charset="0"/>
                <a:hlinkClick r:id="rId3" tooltip="J. K. Rowling">
                  <a:extLst>
                    <a:ext uri="{A12FA001-AC4F-418D-AE19-62706E023703}">
                      <ahyp:hlinkClr xmlns:ahyp="http://schemas.microsoft.com/office/drawing/2018/hyperlinkcolor" val="tx"/>
                    </a:ext>
                  </a:extLst>
                </a:hlinkClick>
              </a:rPr>
              <a:t>J. K. Rowling</a:t>
            </a:r>
            <a:r>
              <a:rPr lang="en-US" dirty="0">
                <a:solidFill>
                  <a:schemeClr val="tx2">
                    <a:lumMod val="60000"/>
                    <a:lumOff val="40000"/>
                  </a:schemeClr>
                </a:solidFill>
                <a:latin typeface="Bell MT" panose="02020503060305020303" pitchFamily="18" charset="0"/>
              </a:rPr>
              <a:t>. </a:t>
            </a:r>
          </a:p>
          <a:p>
            <a:pPr marL="285750" indent="-285750">
              <a:buFont typeface="Courier New" panose="02070309020205020404" pitchFamily="49" charset="0"/>
              <a:buChar char="o"/>
            </a:pPr>
            <a:endParaRPr lang="en-US" dirty="0">
              <a:solidFill>
                <a:schemeClr val="tx2">
                  <a:lumMod val="60000"/>
                  <a:lumOff val="40000"/>
                </a:schemeClr>
              </a:solidFill>
              <a:latin typeface="Bell MT" panose="02020503060305020303" pitchFamily="18" charset="0"/>
            </a:endParaRPr>
          </a:p>
          <a:p>
            <a:pPr marL="285750" indent="-285750">
              <a:buFont typeface="Courier New" panose="02070309020205020404" pitchFamily="49" charset="0"/>
              <a:buChar char="o"/>
            </a:pPr>
            <a:r>
              <a:rPr lang="en-US" dirty="0">
                <a:solidFill>
                  <a:schemeClr val="tx2">
                    <a:lumMod val="60000"/>
                    <a:lumOff val="40000"/>
                  </a:schemeClr>
                </a:solidFill>
                <a:latin typeface="Bell MT" panose="02020503060305020303" pitchFamily="18" charset="0"/>
              </a:rPr>
              <a:t>Starting with “Harry potter and the philosopher’s stone “ published in 1997.</a:t>
            </a:r>
          </a:p>
          <a:p>
            <a:pPr marL="285750" indent="-285750">
              <a:buFont typeface="Courier New" panose="02070309020205020404" pitchFamily="49" charset="0"/>
              <a:buChar char="o"/>
            </a:pPr>
            <a:endParaRPr lang="en-IN" dirty="0">
              <a:solidFill>
                <a:schemeClr val="tx2">
                  <a:lumMod val="60000"/>
                  <a:lumOff val="40000"/>
                </a:schemeClr>
              </a:solidFill>
              <a:latin typeface="Bell MT" panose="02020503060305020303" pitchFamily="18" charset="0"/>
            </a:endParaRPr>
          </a:p>
        </p:txBody>
      </p:sp>
      <p:pic>
        <p:nvPicPr>
          <p:cNvPr id="7" name="Picture 6">
            <a:extLst>
              <a:ext uri="{FF2B5EF4-FFF2-40B4-BE49-F238E27FC236}">
                <a16:creationId xmlns:a16="http://schemas.microsoft.com/office/drawing/2014/main" id="{CA403AC6-7BE0-40DA-9909-F1D060D80D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0329" y="590689"/>
            <a:ext cx="3721097" cy="247622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1449061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B95F2408-CA87-44FC-8D76-076EA0D0105C}"/>
              </a:ext>
            </a:extLst>
          </p:cNvPr>
          <p:cNvSpPr txBox="1"/>
          <p:nvPr/>
        </p:nvSpPr>
        <p:spPr>
          <a:xfrm>
            <a:off x="197223" y="854949"/>
            <a:ext cx="4652683" cy="400110"/>
          </a:xfrm>
          <a:prstGeom prst="rect">
            <a:avLst/>
          </a:prstGeom>
          <a:noFill/>
        </p:spPr>
        <p:txBody>
          <a:bodyPr wrap="square" rtlCol="0">
            <a:spAutoFit/>
          </a:bodyPr>
          <a:lstStyle/>
          <a:p>
            <a:r>
              <a:rPr lang="en-US" sz="2000" dirty="0">
                <a:solidFill>
                  <a:schemeClr val="accent6"/>
                </a:solidFill>
                <a:latin typeface="Constantia" panose="02030602050306030303" pitchFamily="18" charset="0"/>
              </a:rPr>
              <a:t>Theme of Harry potter:</a:t>
            </a:r>
            <a:endParaRPr lang="en-IN" sz="2000" dirty="0">
              <a:solidFill>
                <a:schemeClr val="accent6"/>
              </a:solidFill>
            </a:endParaRPr>
          </a:p>
        </p:txBody>
      </p:sp>
      <p:sp>
        <p:nvSpPr>
          <p:cNvPr id="4" name="TextBox 3">
            <a:extLst>
              <a:ext uri="{FF2B5EF4-FFF2-40B4-BE49-F238E27FC236}">
                <a16:creationId xmlns:a16="http://schemas.microsoft.com/office/drawing/2014/main" id="{788D162F-BD16-49BB-B03B-DCD53639B3E3}"/>
              </a:ext>
            </a:extLst>
          </p:cNvPr>
          <p:cNvSpPr txBox="1"/>
          <p:nvPr/>
        </p:nvSpPr>
        <p:spPr>
          <a:xfrm>
            <a:off x="340658" y="1339264"/>
            <a:ext cx="5351930" cy="2308324"/>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tx2">
                    <a:lumMod val="60000"/>
                    <a:lumOff val="40000"/>
                  </a:schemeClr>
                </a:solidFill>
                <a:latin typeface="Calisto MT" panose="02040603050505030304" pitchFamily="18" charset="0"/>
              </a:rPr>
              <a:t>The author  J.K Rowling has shown that the conflict between good and evil is one of the main themes throughout </a:t>
            </a:r>
            <a:r>
              <a:rPr lang="en-US" dirty="0">
                <a:solidFill>
                  <a:schemeClr val="tx2">
                    <a:lumMod val="60000"/>
                    <a:lumOff val="40000"/>
                  </a:schemeClr>
                </a:solidFill>
                <a:latin typeface="Bell MT" panose="02020503060305020303" pitchFamily="18" charset="0"/>
              </a:rPr>
              <a:t>all</a:t>
            </a:r>
            <a:r>
              <a:rPr lang="en-US" dirty="0">
                <a:solidFill>
                  <a:schemeClr val="tx2">
                    <a:lumMod val="60000"/>
                    <a:lumOff val="40000"/>
                  </a:schemeClr>
                </a:solidFill>
                <a:latin typeface="Calisto MT" panose="02040603050505030304" pitchFamily="18" charset="0"/>
              </a:rPr>
              <a:t> the stories. </a:t>
            </a:r>
          </a:p>
          <a:p>
            <a:endParaRPr lang="en-US" dirty="0">
              <a:solidFill>
                <a:schemeClr val="tx2">
                  <a:lumMod val="60000"/>
                  <a:lumOff val="40000"/>
                </a:schemeClr>
              </a:solidFill>
              <a:latin typeface="Calisto MT" panose="02040603050505030304" pitchFamily="18" charset="0"/>
            </a:endParaRPr>
          </a:p>
          <a:p>
            <a:pPr marL="285750" indent="-285750">
              <a:buFont typeface="Courier New" panose="02070309020205020404" pitchFamily="49" charset="0"/>
              <a:buChar char="o"/>
            </a:pPr>
            <a:r>
              <a:rPr lang="en-US" dirty="0">
                <a:solidFill>
                  <a:schemeClr val="tx2">
                    <a:lumMod val="60000"/>
                    <a:lumOff val="40000"/>
                  </a:schemeClr>
                </a:solidFill>
                <a:latin typeface="Calisto MT" panose="02040603050505030304" pitchFamily="18" charset="0"/>
              </a:rPr>
              <a:t>The antagonist Voldemort embodies evil is the main enemy for the protagonist harry to fight against.</a:t>
            </a:r>
            <a:endParaRPr lang="en-IN" dirty="0">
              <a:solidFill>
                <a:schemeClr val="tx2">
                  <a:lumMod val="60000"/>
                  <a:lumOff val="40000"/>
                </a:schemeClr>
              </a:solidFill>
              <a:latin typeface="Calisto MT" panose="02040603050505030304" pitchFamily="18" charset="0"/>
            </a:endParaRPr>
          </a:p>
          <a:p>
            <a:pPr marL="285750" indent="-285750">
              <a:buFont typeface="Courier New" panose="02070309020205020404" pitchFamily="49" charset="0"/>
              <a:buChar char="o"/>
            </a:pPr>
            <a:endParaRPr lang="en-IN" dirty="0">
              <a:solidFill>
                <a:schemeClr val="tx2">
                  <a:lumMod val="60000"/>
                  <a:lumOff val="40000"/>
                </a:schemeClr>
              </a:solidFill>
              <a:latin typeface="Calisto MT" panose="02040603050505030304" pitchFamily="18" charset="0"/>
            </a:endParaRPr>
          </a:p>
        </p:txBody>
      </p:sp>
    </p:spTree>
    <p:extLst>
      <p:ext uri="{BB962C8B-B14F-4D97-AF65-F5344CB8AC3E}">
        <p14:creationId xmlns:p14="http://schemas.microsoft.com/office/powerpoint/2010/main" val="41277801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5A4BDA45-6C30-4B44-B105-4689D67FCB3B}"/>
              </a:ext>
            </a:extLst>
          </p:cNvPr>
          <p:cNvSpPr txBox="1"/>
          <p:nvPr/>
        </p:nvSpPr>
        <p:spPr>
          <a:xfrm>
            <a:off x="349623" y="950259"/>
            <a:ext cx="5387788"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Characters in the world of Harry potter:</a:t>
            </a:r>
            <a:endParaRPr lang="en-IN" dirty="0">
              <a:solidFill>
                <a:schemeClr val="accent6"/>
              </a:solidFill>
            </a:endParaRPr>
          </a:p>
        </p:txBody>
      </p:sp>
      <p:sp>
        <p:nvSpPr>
          <p:cNvPr id="4" name="TextBox 3">
            <a:extLst>
              <a:ext uri="{FF2B5EF4-FFF2-40B4-BE49-F238E27FC236}">
                <a16:creationId xmlns:a16="http://schemas.microsoft.com/office/drawing/2014/main" id="{484F4CEB-8C1F-426B-BCB3-F2C53B26B000}"/>
              </a:ext>
            </a:extLst>
          </p:cNvPr>
          <p:cNvSpPr txBox="1"/>
          <p:nvPr/>
        </p:nvSpPr>
        <p:spPr>
          <a:xfrm>
            <a:off x="779929" y="1637856"/>
            <a:ext cx="5656732" cy="2031325"/>
          </a:xfrm>
          <a:prstGeom prst="rect">
            <a:avLst/>
          </a:prstGeom>
          <a:noFill/>
        </p:spPr>
        <p:txBody>
          <a:bodyPr wrap="square" rtlCol="0">
            <a:spAutoFit/>
          </a:bodyPr>
          <a:lstStyle/>
          <a:p>
            <a:pPr marL="285750" indent="-285750">
              <a:buFont typeface="Courier New" panose="02070309020205020404" pitchFamily="49" charset="0"/>
              <a:buChar char="o"/>
            </a:pPr>
            <a:r>
              <a:rPr lang="en-US" b="1" dirty="0">
                <a:solidFill>
                  <a:schemeClr val="tx2">
                    <a:lumMod val="60000"/>
                    <a:lumOff val="40000"/>
                  </a:schemeClr>
                </a:solidFill>
                <a:latin typeface="Constantia" panose="02030602050306030303" pitchFamily="18" charset="0"/>
              </a:rPr>
              <a:t>Harry potter</a:t>
            </a:r>
            <a:r>
              <a:rPr lang="en-US" dirty="0">
                <a:solidFill>
                  <a:schemeClr val="tx2">
                    <a:lumMod val="60000"/>
                    <a:lumOff val="40000"/>
                  </a:schemeClr>
                </a:solidFill>
                <a:latin typeface="Constantia" panose="02030602050306030303" pitchFamily="18" charset="0"/>
              </a:rPr>
              <a:t>: the protagonist ,an orphaned wizard with a lightning shaped scar on his forehead.</a:t>
            </a:r>
          </a:p>
          <a:p>
            <a:pPr marL="285750" indent="-285750">
              <a:buFont typeface="Courier New" panose="02070309020205020404" pitchFamily="49" charset="0"/>
              <a:buChar char="o"/>
            </a:pPr>
            <a:endParaRPr lang="en-US"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r>
              <a:rPr lang="en-US" b="1" dirty="0">
                <a:solidFill>
                  <a:schemeClr val="tx2">
                    <a:lumMod val="60000"/>
                    <a:lumOff val="40000"/>
                  </a:schemeClr>
                </a:solidFill>
                <a:latin typeface="Constantia" panose="02030602050306030303" pitchFamily="18" charset="0"/>
              </a:rPr>
              <a:t>Hermione Granger</a:t>
            </a:r>
            <a:r>
              <a:rPr lang="en-US" dirty="0">
                <a:solidFill>
                  <a:schemeClr val="tx2">
                    <a:lumMod val="60000"/>
                    <a:lumOff val="40000"/>
                  </a:schemeClr>
                </a:solidFill>
                <a:latin typeface="Constantia" panose="02030602050306030303" pitchFamily="18" charset="0"/>
              </a:rPr>
              <a:t>: Harry’s intelligent and resourceful best friend.</a:t>
            </a:r>
          </a:p>
          <a:p>
            <a:pPr marL="285750" indent="-285750">
              <a:buFont typeface="Courier New" panose="02070309020205020404" pitchFamily="49" charset="0"/>
              <a:buChar char="o"/>
            </a:pPr>
            <a:endParaRPr lang="en-US"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endParaRPr lang="en-IN" dirty="0">
              <a:solidFill>
                <a:schemeClr val="tx2">
                  <a:lumMod val="60000"/>
                  <a:lumOff val="40000"/>
                </a:schemeClr>
              </a:solidFill>
            </a:endParaRPr>
          </a:p>
        </p:txBody>
      </p:sp>
      <p:pic>
        <p:nvPicPr>
          <p:cNvPr id="6" name="Picture 5">
            <a:extLst>
              <a:ext uri="{FF2B5EF4-FFF2-40B4-BE49-F238E27FC236}">
                <a16:creationId xmlns:a16="http://schemas.microsoft.com/office/drawing/2014/main" id="{99B2C5B4-D2EC-4D4A-AAA8-4CEC3C62D76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05430" y="798061"/>
            <a:ext cx="3783912" cy="252260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217327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5A4BDA45-6C30-4B44-B105-4689D67FCB3B}"/>
              </a:ext>
            </a:extLst>
          </p:cNvPr>
          <p:cNvSpPr txBox="1"/>
          <p:nvPr/>
        </p:nvSpPr>
        <p:spPr>
          <a:xfrm>
            <a:off x="349623" y="950259"/>
            <a:ext cx="5387788"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Characters in the world of Harry potter:</a:t>
            </a:r>
            <a:endParaRPr lang="en-IN" dirty="0">
              <a:solidFill>
                <a:schemeClr val="accent6"/>
              </a:solidFill>
            </a:endParaRPr>
          </a:p>
        </p:txBody>
      </p:sp>
      <p:sp>
        <p:nvSpPr>
          <p:cNvPr id="4" name="TextBox 3">
            <a:extLst>
              <a:ext uri="{FF2B5EF4-FFF2-40B4-BE49-F238E27FC236}">
                <a16:creationId xmlns:a16="http://schemas.microsoft.com/office/drawing/2014/main" id="{484F4CEB-8C1F-426B-BCB3-F2C53B26B000}"/>
              </a:ext>
            </a:extLst>
          </p:cNvPr>
          <p:cNvSpPr txBox="1"/>
          <p:nvPr/>
        </p:nvSpPr>
        <p:spPr>
          <a:xfrm>
            <a:off x="779928" y="1637856"/>
            <a:ext cx="6329083" cy="1200329"/>
          </a:xfrm>
          <a:prstGeom prst="rect">
            <a:avLst/>
          </a:prstGeom>
          <a:noFill/>
        </p:spPr>
        <p:txBody>
          <a:bodyPr wrap="square" rtlCol="0">
            <a:spAutoFit/>
          </a:bodyPr>
          <a:lstStyle/>
          <a:p>
            <a:pPr marL="285750" indent="-285750">
              <a:buFont typeface="Courier New" panose="02070309020205020404" pitchFamily="49" charset="0"/>
              <a:buChar char="o"/>
            </a:pPr>
            <a:r>
              <a:rPr lang="en-US" b="1" dirty="0">
                <a:solidFill>
                  <a:schemeClr val="tx2">
                    <a:lumMod val="60000"/>
                    <a:lumOff val="40000"/>
                  </a:schemeClr>
                </a:solidFill>
                <a:latin typeface="Constantia" panose="02030602050306030303" pitchFamily="18" charset="0"/>
              </a:rPr>
              <a:t>Ron Weasley</a:t>
            </a:r>
            <a:r>
              <a:rPr lang="en-US" dirty="0">
                <a:solidFill>
                  <a:schemeClr val="tx2">
                    <a:lumMod val="60000"/>
                    <a:lumOff val="40000"/>
                  </a:schemeClr>
                </a:solidFill>
                <a:latin typeface="Constantia" panose="02030602050306030303" pitchFamily="18" charset="0"/>
              </a:rPr>
              <a:t>: Harry’s humorous and loyal best friend.</a:t>
            </a:r>
          </a:p>
          <a:p>
            <a:pPr marL="285750" indent="-285750">
              <a:buFont typeface="Courier New" panose="02070309020205020404" pitchFamily="49" charset="0"/>
              <a:buChar char="o"/>
            </a:pPr>
            <a:endParaRPr lang="en-US"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r>
              <a:rPr lang="en-US" b="1" dirty="0">
                <a:solidFill>
                  <a:schemeClr val="tx2">
                    <a:lumMod val="60000"/>
                    <a:lumOff val="40000"/>
                  </a:schemeClr>
                </a:solidFill>
                <a:latin typeface="Constantia" panose="02030602050306030303" pitchFamily="18" charset="0"/>
              </a:rPr>
              <a:t>Lord Voldemort</a:t>
            </a:r>
            <a:r>
              <a:rPr lang="en-US" dirty="0">
                <a:solidFill>
                  <a:schemeClr val="tx2">
                    <a:lumMod val="60000"/>
                    <a:lumOff val="40000"/>
                  </a:schemeClr>
                </a:solidFill>
                <a:latin typeface="Constantia" panose="02030602050306030303" pitchFamily="18" charset="0"/>
              </a:rPr>
              <a:t>: He was the antagonist who according to a prophecy has "the power to vanquish the Dark Lord"</a:t>
            </a:r>
            <a:endParaRPr lang="en-IN" b="1" dirty="0">
              <a:solidFill>
                <a:schemeClr val="tx2">
                  <a:lumMod val="60000"/>
                  <a:lumOff val="40000"/>
                </a:schemeClr>
              </a:solidFill>
              <a:latin typeface="Constantia" panose="02030602050306030303" pitchFamily="18" charset="0"/>
            </a:endParaRPr>
          </a:p>
        </p:txBody>
      </p:sp>
      <p:pic>
        <p:nvPicPr>
          <p:cNvPr id="6" name="Picture 5">
            <a:extLst>
              <a:ext uri="{FF2B5EF4-FFF2-40B4-BE49-F238E27FC236}">
                <a16:creationId xmlns:a16="http://schemas.microsoft.com/office/drawing/2014/main" id="{3A2036FC-632B-41F8-9E8D-96159FD552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3854" y="4019816"/>
            <a:ext cx="2891958" cy="216617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8" name="Picture 7">
            <a:extLst>
              <a:ext uri="{FF2B5EF4-FFF2-40B4-BE49-F238E27FC236}">
                <a16:creationId xmlns:a16="http://schemas.microsoft.com/office/drawing/2014/main" id="{C8F08B6B-04AA-4833-B670-5F5E4067548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184173" y="3661802"/>
            <a:ext cx="2569427" cy="230946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3757911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94BF027A-60EB-4554-8308-F84CC1CABC9C}"/>
              </a:ext>
            </a:extLst>
          </p:cNvPr>
          <p:cNvSpPr txBox="1"/>
          <p:nvPr/>
        </p:nvSpPr>
        <p:spPr>
          <a:xfrm>
            <a:off x="376518" y="457200"/>
            <a:ext cx="5056094"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The Hogwarts school of witchcraft and wizardry: </a:t>
            </a:r>
            <a:endParaRPr lang="en-IN" dirty="0">
              <a:solidFill>
                <a:schemeClr val="accent6"/>
              </a:solidFill>
            </a:endParaRPr>
          </a:p>
        </p:txBody>
      </p:sp>
      <p:sp>
        <p:nvSpPr>
          <p:cNvPr id="4" name="TextBox 3">
            <a:extLst>
              <a:ext uri="{FF2B5EF4-FFF2-40B4-BE49-F238E27FC236}">
                <a16:creationId xmlns:a16="http://schemas.microsoft.com/office/drawing/2014/main" id="{E0459AD2-B7AE-4839-8D4A-F92391F2210E}"/>
              </a:ext>
            </a:extLst>
          </p:cNvPr>
          <p:cNvSpPr txBox="1"/>
          <p:nvPr/>
        </p:nvSpPr>
        <p:spPr>
          <a:xfrm>
            <a:off x="779929" y="1192236"/>
            <a:ext cx="5979459" cy="1754326"/>
          </a:xfrm>
          <a:prstGeom prst="rect">
            <a:avLst/>
          </a:prstGeom>
          <a:noFill/>
        </p:spPr>
        <p:txBody>
          <a:bodyPr wrap="square" rtlCol="0">
            <a:spAutoFit/>
          </a:bodyPr>
          <a:lstStyle/>
          <a:p>
            <a:r>
              <a:rPr lang="en-US" dirty="0">
                <a:solidFill>
                  <a:schemeClr val="tx2">
                    <a:lumMod val="60000"/>
                    <a:lumOff val="40000"/>
                  </a:schemeClr>
                </a:solidFill>
                <a:latin typeface="Constantia" panose="02030602050306030303" pitchFamily="18" charset="0"/>
              </a:rPr>
              <a:t>Founded around the 9th century and 10</a:t>
            </a:r>
            <a:r>
              <a:rPr lang="en-US" baseline="30000" dirty="0">
                <a:solidFill>
                  <a:schemeClr val="tx2">
                    <a:lumMod val="60000"/>
                    <a:lumOff val="40000"/>
                  </a:schemeClr>
                </a:solidFill>
                <a:latin typeface="Constantia" panose="02030602050306030303" pitchFamily="18" charset="0"/>
              </a:rPr>
              <a:t>th</a:t>
            </a:r>
            <a:r>
              <a:rPr lang="en-US" dirty="0">
                <a:solidFill>
                  <a:schemeClr val="tx2">
                    <a:lumMod val="60000"/>
                    <a:lumOff val="40000"/>
                  </a:schemeClr>
                </a:solidFill>
                <a:latin typeface="Constantia" panose="02030602050306030303" pitchFamily="18" charset="0"/>
              </a:rPr>
              <a:t> century by Gryffindor, Rowena Ravenclaw, Helga Hufflepuff and Salazar Slytherin, Hogwarts was established in the Highlands of Scotland to educate young wizards and witches as well as to keep students safe from Muggle persecution</a:t>
            </a:r>
            <a:r>
              <a:rPr lang="en-US" dirty="0">
                <a:solidFill>
                  <a:schemeClr val="tx2">
                    <a:lumMod val="60000"/>
                    <a:lumOff val="40000"/>
                  </a:schemeClr>
                </a:solidFill>
              </a:rPr>
              <a:t>.</a:t>
            </a:r>
            <a:endParaRPr lang="en-IN" dirty="0">
              <a:solidFill>
                <a:schemeClr val="tx2">
                  <a:lumMod val="60000"/>
                  <a:lumOff val="40000"/>
                </a:schemeClr>
              </a:solidFill>
            </a:endParaRPr>
          </a:p>
        </p:txBody>
      </p:sp>
      <p:pic>
        <p:nvPicPr>
          <p:cNvPr id="6" name="Picture 5">
            <a:extLst>
              <a:ext uri="{FF2B5EF4-FFF2-40B4-BE49-F238E27FC236}">
                <a16:creationId xmlns:a16="http://schemas.microsoft.com/office/drawing/2014/main" id="{74333387-E800-4F03-86F7-B129DF4A440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58636" y="987359"/>
            <a:ext cx="3657600" cy="216408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595575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25A9388C-DB87-42F1-A311-BCEE44A67068}"/>
              </a:ext>
            </a:extLst>
          </p:cNvPr>
          <p:cNvSpPr txBox="1"/>
          <p:nvPr/>
        </p:nvSpPr>
        <p:spPr>
          <a:xfrm>
            <a:off x="582706" y="519952"/>
            <a:ext cx="4177553"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Magical objects and Artifacts:</a:t>
            </a:r>
            <a:endParaRPr lang="en-IN" dirty="0">
              <a:solidFill>
                <a:schemeClr val="accent6"/>
              </a:solidFill>
            </a:endParaRPr>
          </a:p>
        </p:txBody>
      </p:sp>
      <p:sp>
        <p:nvSpPr>
          <p:cNvPr id="4" name="TextBox 3">
            <a:extLst>
              <a:ext uri="{FF2B5EF4-FFF2-40B4-BE49-F238E27FC236}">
                <a16:creationId xmlns:a16="http://schemas.microsoft.com/office/drawing/2014/main" id="{B8FFDC34-70EC-49AA-A901-037175C03CC3}"/>
              </a:ext>
            </a:extLst>
          </p:cNvPr>
          <p:cNvSpPr txBox="1"/>
          <p:nvPr/>
        </p:nvSpPr>
        <p:spPr>
          <a:xfrm>
            <a:off x="744070" y="1117377"/>
            <a:ext cx="5558118" cy="2862322"/>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tx2">
                    <a:lumMod val="60000"/>
                    <a:lumOff val="40000"/>
                  </a:schemeClr>
                </a:solidFill>
                <a:latin typeface="Constantia" panose="02030602050306030303" pitchFamily="18" charset="0"/>
              </a:rPr>
              <a:t>The series features various magical objects like sorting hat, invisibility cloak, and the Marauder’s Map.</a:t>
            </a:r>
          </a:p>
          <a:p>
            <a:pPr marL="285750" indent="-285750">
              <a:buFont typeface="Courier New" panose="02070309020205020404" pitchFamily="49" charset="0"/>
              <a:buChar char="o"/>
            </a:pPr>
            <a:endParaRPr lang="en-US"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r>
              <a:rPr lang="en-US" dirty="0">
                <a:solidFill>
                  <a:schemeClr val="tx2">
                    <a:lumMod val="60000"/>
                    <a:lumOff val="40000"/>
                  </a:schemeClr>
                </a:solidFill>
                <a:latin typeface="Constantia" panose="02030602050306030303" pitchFamily="18" charset="0"/>
              </a:rPr>
              <a:t>The philosopher’s stone, the goblet of fire, and the Deathly Hallows are the Key artifacts in the story.</a:t>
            </a:r>
          </a:p>
          <a:p>
            <a:pPr marL="285750" indent="-285750">
              <a:buFont typeface="Courier New" panose="02070309020205020404" pitchFamily="49" charset="0"/>
              <a:buChar char="o"/>
            </a:pPr>
            <a:endParaRPr lang="en-US"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r>
              <a:rPr lang="en-US" dirty="0">
                <a:solidFill>
                  <a:schemeClr val="tx2">
                    <a:lumMod val="60000"/>
                    <a:lumOff val="40000"/>
                  </a:schemeClr>
                </a:solidFill>
                <a:latin typeface="Constantia" panose="02030602050306030303" pitchFamily="18" charset="0"/>
              </a:rPr>
              <a:t>These a objects have significant powers and play important roles in the plot.</a:t>
            </a:r>
            <a:endParaRPr lang="en-IN" dirty="0">
              <a:solidFill>
                <a:schemeClr val="tx2">
                  <a:lumMod val="60000"/>
                  <a:lumOff val="40000"/>
                </a:schemeClr>
              </a:solidFill>
              <a:latin typeface="Constantia" panose="02030602050306030303" pitchFamily="18" charset="0"/>
            </a:endParaRPr>
          </a:p>
          <a:p>
            <a:pPr marL="285750" indent="-285750">
              <a:buFont typeface="Courier New" panose="02070309020205020404" pitchFamily="49" charset="0"/>
              <a:buChar char="o"/>
            </a:pPr>
            <a:endParaRPr lang="en-IN" dirty="0">
              <a:solidFill>
                <a:schemeClr val="tx2">
                  <a:lumMod val="60000"/>
                  <a:lumOff val="40000"/>
                </a:schemeClr>
              </a:solidFill>
            </a:endParaRPr>
          </a:p>
        </p:txBody>
      </p:sp>
      <p:pic>
        <p:nvPicPr>
          <p:cNvPr id="7" name="Picture 6">
            <a:extLst>
              <a:ext uri="{FF2B5EF4-FFF2-40B4-BE49-F238E27FC236}">
                <a16:creationId xmlns:a16="http://schemas.microsoft.com/office/drawing/2014/main" id="{14593765-43CB-4156-957E-5EAF8E32C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4531" y="405413"/>
            <a:ext cx="2143125" cy="21431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9" name="Picture 8">
            <a:extLst>
              <a:ext uri="{FF2B5EF4-FFF2-40B4-BE49-F238E27FC236}">
                <a16:creationId xmlns:a16="http://schemas.microsoft.com/office/drawing/2014/main" id="{6F7CE7FB-2017-400F-A3C5-CBD078F675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4531" y="3782476"/>
            <a:ext cx="2847975" cy="16002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817197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DC2EC030-F39D-4A61-9269-4A7CEB06EFE2}"/>
              </a:ext>
            </a:extLst>
          </p:cNvPr>
          <p:cNvSpPr txBox="1"/>
          <p:nvPr/>
        </p:nvSpPr>
        <p:spPr>
          <a:xfrm>
            <a:off x="788894" y="591671"/>
            <a:ext cx="4150659"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Quidditch –the wizarding sport:</a:t>
            </a:r>
            <a:endParaRPr lang="en-IN" dirty="0">
              <a:solidFill>
                <a:schemeClr val="accent6"/>
              </a:solidFill>
            </a:endParaRPr>
          </a:p>
        </p:txBody>
      </p:sp>
      <p:sp>
        <p:nvSpPr>
          <p:cNvPr id="4" name="TextBox 3">
            <a:extLst>
              <a:ext uri="{FF2B5EF4-FFF2-40B4-BE49-F238E27FC236}">
                <a16:creationId xmlns:a16="http://schemas.microsoft.com/office/drawing/2014/main" id="{A55182CF-0124-4771-A060-245049F07910}"/>
              </a:ext>
            </a:extLst>
          </p:cNvPr>
          <p:cNvSpPr txBox="1"/>
          <p:nvPr/>
        </p:nvSpPr>
        <p:spPr>
          <a:xfrm>
            <a:off x="1165412" y="1299882"/>
            <a:ext cx="5100918" cy="3139321"/>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bg2">
                    <a:lumMod val="50000"/>
                  </a:schemeClr>
                </a:solidFill>
                <a:latin typeface="Constantia" panose="02030602050306030303" pitchFamily="18" charset="0"/>
              </a:rPr>
              <a:t>It first appeared in the novel </a:t>
            </a:r>
            <a:r>
              <a:rPr lang="en-US" i="1" dirty="0">
                <a:solidFill>
                  <a:schemeClr val="bg2">
                    <a:lumMod val="50000"/>
                  </a:schemeClr>
                </a:solidFill>
                <a:latin typeface="Constantia" panose="02030602050306030303" pitchFamily="18" charset="0"/>
              </a:rPr>
              <a:t>Harry Potter and the Philosopher's Stone</a:t>
            </a:r>
            <a:r>
              <a:rPr lang="en-US" dirty="0">
                <a:solidFill>
                  <a:schemeClr val="bg2">
                    <a:lumMod val="50000"/>
                  </a:schemeClr>
                </a:solidFill>
                <a:latin typeface="Constantia" panose="02030602050306030303" pitchFamily="18" charset="0"/>
              </a:rPr>
              <a:t> (1997). </a:t>
            </a:r>
          </a:p>
          <a:p>
            <a:pPr marL="285750" indent="-285750">
              <a:buFont typeface="Courier New" panose="02070309020205020404" pitchFamily="49" charset="0"/>
              <a:buChar char="o"/>
            </a:pPr>
            <a:endParaRPr lang="en-US" dirty="0">
              <a:solidFill>
                <a:schemeClr val="bg2">
                  <a:lumMod val="50000"/>
                </a:schemeClr>
              </a:solidFill>
              <a:latin typeface="Constantia" panose="02030602050306030303" pitchFamily="18" charset="0"/>
            </a:endParaRPr>
          </a:p>
          <a:p>
            <a:pPr marL="285750" indent="-285750">
              <a:buFont typeface="Courier New" panose="02070309020205020404" pitchFamily="49" charset="0"/>
              <a:buChar char="o"/>
            </a:pPr>
            <a:r>
              <a:rPr lang="en-US" dirty="0">
                <a:solidFill>
                  <a:schemeClr val="bg2">
                    <a:lumMod val="50000"/>
                  </a:schemeClr>
                </a:solidFill>
                <a:latin typeface="Constantia" panose="02030602050306030303" pitchFamily="18" charset="0"/>
              </a:rPr>
              <a:t>It is a dangerous but popular sport played by witches and wizards riding flying broomsticks.</a:t>
            </a:r>
          </a:p>
          <a:p>
            <a:pPr marL="285750" indent="-285750">
              <a:buFont typeface="Courier New" panose="02070309020205020404" pitchFamily="49" charset="0"/>
              <a:buChar char="o"/>
            </a:pPr>
            <a:endParaRPr lang="en-US" dirty="0">
              <a:solidFill>
                <a:schemeClr val="bg2">
                  <a:lumMod val="50000"/>
                </a:schemeClr>
              </a:solidFill>
              <a:latin typeface="Constantia" panose="02030602050306030303" pitchFamily="18" charset="0"/>
            </a:endParaRPr>
          </a:p>
          <a:p>
            <a:pPr marL="285750" indent="-285750">
              <a:buFont typeface="Courier New" panose="02070309020205020404" pitchFamily="49" charset="0"/>
              <a:buChar char="o"/>
            </a:pPr>
            <a:r>
              <a:rPr lang="en-US" dirty="0">
                <a:solidFill>
                  <a:schemeClr val="bg2">
                    <a:lumMod val="50000"/>
                  </a:schemeClr>
                </a:solidFill>
                <a:latin typeface="Constantia" panose="02030602050306030303" pitchFamily="18" charset="0"/>
              </a:rPr>
              <a:t>The game includes elements of strategy, skill, and teamwork.</a:t>
            </a:r>
          </a:p>
          <a:p>
            <a:pPr marL="285750" indent="-285750">
              <a:buFont typeface="Courier New" panose="02070309020205020404" pitchFamily="49" charset="0"/>
              <a:buChar char="o"/>
            </a:pPr>
            <a:br>
              <a:rPr lang="en-US" dirty="0">
                <a:solidFill>
                  <a:schemeClr val="bg2">
                    <a:lumMod val="50000"/>
                  </a:schemeClr>
                </a:solidFill>
              </a:rPr>
            </a:br>
            <a:endParaRPr lang="en-IN" dirty="0">
              <a:solidFill>
                <a:schemeClr val="bg2">
                  <a:lumMod val="50000"/>
                </a:schemeClr>
              </a:solidFill>
            </a:endParaRPr>
          </a:p>
          <a:p>
            <a:pPr marL="285750" indent="-285750">
              <a:buFont typeface="Courier New" panose="02070309020205020404" pitchFamily="49" charset="0"/>
              <a:buChar char="o"/>
            </a:pPr>
            <a:endParaRPr lang="en-IN" dirty="0">
              <a:solidFill>
                <a:schemeClr val="bg2">
                  <a:lumMod val="50000"/>
                </a:schemeClr>
              </a:solidFill>
            </a:endParaRPr>
          </a:p>
        </p:txBody>
      </p:sp>
      <p:pic>
        <p:nvPicPr>
          <p:cNvPr id="6" name="Picture 5">
            <a:extLst>
              <a:ext uri="{FF2B5EF4-FFF2-40B4-BE49-F238E27FC236}">
                <a16:creationId xmlns:a16="http://schemas.microsoft.com/office/drawing/2014/main" id="{2BDCEF75-5462-4711-B95E-46F8F32F4F6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31742" y="1022625"/>
            <a:ext cx="3693458" cy="207449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4968989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4C440A71-04A3-4020-8144-F02D49CC9266}"/>
              </a:ext>
            </a:extLst>
          </p:cNvPr>
          <p:cNvSpPr txBox="1"/>
          <p:nvPr/>
        </p:nvSpPr>
        <p:spPr>
          <a:xfrm>
            <a:off x="340659" y="376518"/>
            <a:ext cx="6400800"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The battle between good and evil:</a:t>
            </a:r>
            <a:endParaRPr lang="en-IN" dirty="0">
              <a:solidFill>
                <a:schemeClr val="accent6"/>
              </a:solidFill>
            </a:endParaRPr>
          </a:p>
        </p:txBody>
      </p:sp>
      <p:sp>
        <p:nvSpPr>
          <p:cNvPr id="4" name="TextBox 3">
            <a:extLst>
              <a:ext uri="{FF2B5EF4-FFF2-40B4-BE49-F238E27FC236}">
                <a16:creationId xmlns:a16="http://schemas.microsoft.com/office/drawing/2014/main" id="{174D8729-CB0B-4304-9218-A5792F88F190}"/>
              </a:ext>
            </a:extLst>
          </p:cNvPr>
          <p:cNvSpPr txBox="1"/>
          <p:nvPr/>
        </p:nvSpPr>
        <p:spPr>
          <a:xfrm>
            <a:off x="959224" y="1048870"/>
            <a:ext cx="5782235" cy="1754326"/>
          </a:xfrm>
          <a:prstGeom prst="rect">
            <a:avLst/>
          </a:prstGeom>
          <a:noFill/>
        </p:spPr>
        <p:txBody>
          <a:bodyPr wrap="square" rtlCol="0">
            <a:spAutoFit/>
          </a:bodyPr>
          <a:lstStyle/>
          <a:p>
            <a:r>
              <a:rPr lang="en-US" dirty="0">
                <a:solidFill>
                  <a:schemeClr val="tx2">
                    <a:lumMod val="60000"/>
                    <a:lumOff val="40000"/>
                  </a:schemeClr>
                </a:solidFill>
                <a:latin typeface="Constantia" panose="02030602050306030303" pitchFamily="18" charset="0"/>
              </a:rPr>
              <a:t>Harry and Voldemort duel each other around the castle while everyone else fights in the Great Hall. Harry grabs Voldemort and calls him "Tom," throwing themselves off the castle and morphing in the air, before hitting the ground outside the castle and starting the final duel.</a:t>
            </a:r>
            <a:endParaRPr lang="en-IN" dirty="0">
              <a:solidFill>
                <a:schemeClr val="tx2">
                  <a:lumMod val="60000"/>
                  <a:lumOff val="40000"/>
                </a:schemeClr>
              </a:solidFill>
              <a:latin typeface="Constantia" panose="02030602050306030303" pitchFamily="18" charset="0"/>
            </a:endParaRPr>
          </a:p>
          <a:p>
            <a:endParaRPr lang="en-IN" dirty="0">
              <a:solidFill>
                <a:schemeClr val="tx2">
                  <a:lumMod val="60000"/>
                  <a:lumOff val="40000"/>
                </a:schemeClr>
              </a:solidFill>
            </a:endParaRPr>
          </a:p>
        </p:txBody>
      </p:sp>
      <p:pic>
        <p:nvPicPr>
          <p:cNvPr id="7" name="Picture 6">
            <a:extLst>
              <a:ext uri="{FF2B5EF4-FFF2-40B4-BE49-F238E27FC236}">
                <a16:creationId xmlns:a16="http://schemas.microsoft.com/office/drawing/2014/main" id="{472AAFA7-BF16-4C88-9B44-99A80F0C2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3380" y="745850"/>
            <a:ext cx="3709396" cy="208653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3443793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EFE33EE8-4B6D-4FB0-833A-8C96403B37BC}"/>
              </a:ext>
            </a:extLst>
          </p:cNvPr>
          <p:cNvSpPr txBox="1"/>
          <p:nvPr/>
        </p:nvSpPr>
        <p:spPr>
          <a:xfrm>
            <a:off x="466164" y="401633"/>
            <a:ext cx="4858871"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Adaptations and popularity:</a:t>
            </a:r>
            <a:endParaRPr lang="en-IN" dirty="0">
              <a:solidFill>
                <a:schemeClr val="accent6"/>
              </a:solidFill>
            </a:endParaRPr>
          </a:p>
        </p:txBody>
      </p:sp>
      <p:sp>
        <p:nvSpPr>
          <p:cNvPr id="4" name="TextBox 3">
            <a:extLst>
              <a:ext uri="{FF2B5EF4-FFF2-40B4-BE49-F238E27FC236}">
                <a16:creationId xmlns:a16="http://schemas.microsoft.com/office/drawing/2014/main" id="{288E78C9-76F6-4392-87E6-3C71A667F8FF}"/>
              </a:ext>
            </a:extLst>
          </p:cNvPr>
          <p:cNvSpPr txBox="1"/>
          <p:nvPr/>
        </p:nvSpPr>
        <p:spPr>
          <a:xfrm>
            <a:off x="923363" y="1075765"/>
            <a:ext cx="6051177" cy="1739153"/>
          </a:xfrm>
          <a:prstGeom prst="rect">
            <a:avLst/>
          </a:prstGeom>
          <a:noFill/>
        </p:spPr>
        <p:txBody>
          <a:bodyPr wrap="square" rtlCol="0">
            <a:spAutoFit/>
          </a:bodyPr>
          <a:lstStyle/>
          <a:p>
            <a:r>
              <a:rPr lang="en-US" dirty="0">
                <a:solidFill>
                  <a:schemeClr val="tx2">
                    <a:lumMod val="60000"/>
                    <a:lumOff val="40000"/>
                  </a:schemeClr>
                </a:solidFill>
                <a:latin typeface="Calisto MT" panose="02040603050505030304" pitchFamily="18" charset="0"/>
              </a:rPr>
              <a:t>The books have sold more than 600 million copies worldwide and have also given rise to the popular film adaptations produced by Warner Bros. Pictures, all of which have been highly successful in their own right. And grossed billons of dollars all over the world.</a:t>
            </a:r>
            <a:endParaRPr lang="en-IN" dirty="0">
              <a:solidFill>
                <a:schemeClr val="tx2">
                  <a:lumMod val="60000"/>
                  <a:lumOff val="40000"/>
                </a:schemeClr>
              </a:solidFill>
              <a:latin typeface="Calisto MT" panose="02040603050505030304" pitchFamily="18" charset="0"/>
            </a:endParaRPr>
          </a:p>
          <a:p>
            <a:endParaRPr lang="en-IN" dirty="0">
              <a:solidFill>
                <a:schemeClr val="tx2">
                  <a:lumMod val="60000"/>
                  <a:lumOff val="40000"/>
                </a:schemeClr>
              </a:solidFill>
              <a:latin typeface="Calisto MT" panose="02040603050505030304" pitchFamily="18" charset="0"/>
            </a:endParaRPr>
          </a:p>
        </p:txBody>
      </p:sp>
    </p:spTree>
    <p:extLst>
      <p:ext uri="{BB962C8B-B14F-4D97-AF65-F5344CB8AC3E}">
        <p14:creationId xmlns:p14="http://schemas.microsoft.com/office/powerpoint/2010/main" val="1506744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5" name="TextBox 4">
            <a:extLst>
              <a:ext uri="{FF2B5EF4-FFF2-40B4-BE49-F238E27FC236}">
                <a16:creationId xmlns:a16="http://schemas.microsoft.com/office/drawing/2014/main" id="{D46833B4-7B9B-4572-841E-DE30402A0AA0}"/>
              </a:ext>
            </a:extLst>
          </p:cNvPr>
          <p:cNvSpPr txBox="1"/>
          <p:nvPr/>
        </p:nvSpPr>
        <p:spPr>
          <a:xfrm>
            <a:off x="502023" y="672353"/>
            <a:ext cx="4186518" cy="369332"/>
          </a:xfrm>
          <a:prstGeom prst="rect">
            <a:avLst/>
          </a:prstGeom>
          <a:noFill/>
        </p:spPr>
        <p:txBody>
          <a:bodyPr wrap="square" rtlCol="0">
            <a:spAutoFit/>
          </a:bodyPr>
          <a:lstStyle/>
          <a:p>
            <a:r>
              <a:rPr lang="en-US" b="1" dirty="0">
                <a:solidFill>
                  <a:schemeClr val="accent6"/>
                </a:solidFill>
                <a:latin typeface="Century" panose="02040604050505020304" pitchFamily="18" charset="0"/>
                <a:ea typeface="Georgia" pitchFamily="34" charset="-122"/>
                <a:cs typeface="Georgia" pitchFamily="34" charset="-120"/>
              </a:rPr>
              <a:t>The Magical World of Harry Potter :</a:t>
            </a:r>
            <a:endParaRPr lang="en-US" dirty="0">
              <a:solidFill>
                <a:schemeClr val="accent6"/>
              </a:solidFill>
              <a:latin typeface="Century" panose="02040604050505020304" pitchFamily="18" charset="0"/>
            </a:endParaRPr>
          </a:p>
        </p:txBody>
      </p:sp>
      <p:sp>
        <p:nvSpPr>
          <p:cNvPr id="7" name="Rectangle 6">
            <a:extLst>
              <a:ext uri="{FF2B5EF4-FFF2-40B4-BE49-F238E27FC236}">
                <a16:creationId xmlns:a16="http://schemas.microsoft.com/office/drawing/2014/main" id="{FA470BA2-39D9-45DE-9EBB-90EA843A11A5}"/>
              </a:ext>
            </a:extLst>
          </p:cNvPr>
          <p:cNvSpPr/>
          <p:nvPr/>
        </p:nvSpPr>
        <p:spPr>
          <a:xfrm>
            <a:off x="923365" y="1409238"/>
            <a:ext cx="6096000" cy="2308324"/>
          </a:xfrm>
          <a:prstGeom prst="rect">
            <a:avLst/>
          </a:prstGeom>
        </p:spPr>
        <p:txBody>
          <a:bodyPr>
            <a:spAutoFit/>
          </a:bodyPr>
          <a:lstStyle/>
          <a:p>
            <a:pPr marL="285750" indent="-285750">
              <a:buFont typeface="Courier New" panose="02070309020205020404" pitchFamily="49" charset="0"/>
              <a:buChar char="o"/>
            </a:pPr>
            <a:r>
              <a:rPr lang="en-US" dirty="0">
                <a:solidFill>
                  <a:schemeClr val="accent1">
                    <a:lumMod val="60000"/>
                    <a:lumOff val="40000"/>
                  </a:schemeClr>
                </a:solidFill>
                <a:latin typeface="Georgia" pitchFamily="34" charset="0"/>
                <a:ea typeface="Georgia" pitchFamily="34" charset="-122"/>
                <a:cs typeface="Georgia" pitchFamily="34" charset="-120"/>
              </a:rPr>
              <a:t>The Harry Potter series is set in a magical world parallel to our own.</a:t>
            </a:r>
            <a:endParaRPr lang="en-US" dirty="0">
              <a:solidFill>
                <a:schemeClr val="accent1">
                  <a:lumMod val="60000"/>
                  <a:lumOff val="40000"/>
                </a:schemeClr>
              </a:solidFill>
            </a:endParaRPr>
          </a:p>
          <a:p>
            <a:pPr marL="285750" indent="-285750">
              <a:buFont typeface="Courier New" panose="02070309020205020404" pitchFamily="49" charset="0"/>
              <a:buChar char="o"/>
            </a:pPr>
            <a:endParaRPr lang="en-US" dirty="0">
              <a:solidFill>
                <a:schemeClr val="accent1">
                  <a:lumMod val="60000"/>
                  <a:lumOff val="40000"/>
                </a:schemeClr>
              </a:solidFill>
            </a:endParaRPr>
          </a:p>
          <a:p>
            <a:pPr marL="285750" indent="-285750">
              <a:buFont typeface="Courier New" panose="02070309020205020404" pitchFamily="49" charset="0"/>
              <a:buChar char="o"/>
            </a:pPr>
            <a:r>
              <a:rPr lang="en-US" dirty="0">
                <a:solidFill>
                  <a:schemeClr val="accent1">
                    <a:lumMod val="60000"/>
                    <a:lumOff val="40000"/>
                  </a:schemeClr>
                </a:solidFill>
                <a:latin typeface="Georgia" pitchFamily="34" charset="0"/>
                <a:ea typeface="Georgia" pitchFamily="34" charset="-122"/>
                <a:cs typeface="Georgia" pitchFamily="34" charset="-120"/>
              </a:rPr>
              <a:t>It features various magical creatures such as dragons, owls, and unicorns.</a:t>
            </a:r>
            <a:endParaRPr lang="en-US" dirty="0">
              <a:solidFill>
                <a:schemeClr val="accent1">
                  <a:lumMod val="60000"/>
                  <a:lumOff val="40000"/>
                </a:schemeClr>
              </a:solidFill>
            </a:endParaRPr>
          </a:p>
          <a:p>
            <a:pPr marL="285750" indent="-285750">
              <a:buFont typeface="Courier New" panose="02070309020205020404" pitchFamily="49" charset="0"/>
              <a:buChar char="o"/>
            </a:pPr>
            <a:endParaRPr lang="en-US" dirty="0">
              <a:solidFill>
                <a:schemeClr val="accent1">
                  <a:lumMod val="60000"/>
                  <a:lumOff val="40000"/>
                </a:schemeClr>
              </a:solidFill>
            </a:endParaRPr>
          </a:p>
          <a:p>
            <a:pPr marL="285750" indent="-285750">
              <a:buFont typeface="Courier New" panose="02070309020205020404" pitchFamily="49" charset="0"/>
              <a:buChar char="o"/>
            </a:pPr>
            <a:r>
              <a:rPr lang="en-US" dirty="0">
                <a:solidFill>
                  <a:schemeClr val="accent1">
                    <a:lumMod val="60000"/>
                    <a:lumOff val="40000"/>
                  </a:schemeClr>
                </a:solidFill>
                <a:latin typeface="Georgia" pitchFamily="34" charset="0"/>
                <a:ea typeface="Georgia" pitchFamily="34" charset="-122"/>
                <a:cs typeface="Georgia" pitchFamily="34" charset="-120"/>
              </a:rPr>
              <a:t>Spells, potions, and magical objects play a significant role in the story.</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42084356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8C5761A7-5307-4BCF-AD4A-FE23A08007DA}"/>
              </a:ext>
            </a:extLst>
          </p:cNvPr>
          <p:cNvSpPr txBox="1"/>
          <p:nvPr/>
        </p:nvSpPr>
        <p:spPr>
          <a:xfrm>
            <a:off x="286871" y="439271"/>
            <a:ext cx="4249270" cy="461665"/>
          </a:xfrm>
          <a:prstGeom prst="rect">
            <a:avLst/>
          </a:prstGeom>
          <a:noFill/>
        </p:spPr>
        <p:txBody>
          <a:bodyPr wrap="square" rtlCol="0">
            <a:spAutoFit/>
          </a:bodyPr>
          <a:lstStyle/>
          <a:p>
            <a:r>
              <a:rPr lang="en-US" sz="2400" dirty="0">
                <a:solidFill>
                  <a:schemeClr val="accent6"/>
                </a:solidFill>
                <a:latin typeface="Century" panose="02040604050505020304" pitchFamily="18" charset="0"/>
              </a:rPr>
              <a:t>Hogwarts Express:</a:t>
            </a:r>
            <a:endParaRPr lang="en-IN" sz="2400" dirty="0">
              <a:solidFill>
                <a:schemeClr val="accent6"/>
              </a:solidFill>
              <a:latin typeface="Century" panose="02040604050505020304" pitchFamily="18" charset="0"/>
            </a:endParaRPr>
          </a:p>
        </p:txBody>
      </p:sp>
      <p:sp>
        <p:nvSpPr>
          <p:cNvPr id="4" name="TextBox 3">
            <a:extLst>
              <a:ext uri="{FF2B5EF4-FFF2-40B4-BE49-F238E27FC236}">
                <a16:creationId xmlns:a16="http://schemas.microsoft.com/office/drawing/2014/main" id="{0D7BB74F-77F7-4D9F-927A-EAED06C36FC6}"/>
              </a:ext>
            </a:extLst>
          </p:cNvPr>
          <p:cNvSpPr txBox="1"/>
          <p:nvPr/>
        </p:nvSpPr>
        <p:spPr>
          <a:xfrm>
            <a:off x="833718" y="1265890"/>
            <a:ext cx="5522258" cy="1323439"/>
          </a:xfrm>
          <a:prstGeom prst="rect">
            <a:avLst/>
          </a:prstGeom>
          <a:noFill/>
        </p:spPr>
        <p:txBody>
          <a:bodyPr wrap="square" rtlCol="0">
            <a:spAutoFit/>
          </a:bodyPr>
          <a:lstStyle/>
          <a:p>
            <a:pPr marL="342900" indent="-342900">
              <a:buFont typeface="Courier New" panose="02070309020205020404" pitchFamily="49" charset="0"/>
              <a:buChar char="o"/>
            </a:pPr>
            <a:r>
              <a:rPr lang="en-US" sz="2000" dirty="0">
                <a:solidFill>
                  <a:schemeClr val="tx2">
                    <a:lumMod val="60000"/>
                    <a:lumOff val="40000"/>
                  </a:schemeClr>
                </a:solidFill>
              </a:rPr>
              <a:t>The Jacobite Steam Train / Hogwarts Express</a:t>
            </a:r>
          </a:p>
          <a:p>
            <a:pPr marL="342900" indent="-342900">
              <a:buFont typeface="Courier New" panose="02070309020205020404" pitchFamily="49" charset="0"/>
              <a:buChar char="o"/>
            </a:pPr>
            <a:endParaRPr lang="en-US" sz="2000" dirty="0">
              <a:solidFill>
                <a:schemeClr val="tx2">
                  <a:lumMod val="60000"/>
                  <a:lumOff val="40000"/>
                </a:schemeClr>
              </a:solidFill>
            </a:endParaRPr>
          </a:p>
          <a:p>
            <a:pPr marL="342900" indent="-342900">
              <a:buFont typeface="Courier New" panose="02070309020205020404" pitchFamily="49" charset="0"/>
              <a:buChar char="o"/>
            </a:pPr>
            <a:r>
              <a:rPr lang="en-US" sz="2000" dirty="0">
                <a:solidFill>
                  <a:schemeClr val="tx2">
                    <a:lumMod val="60000"/>
                    <a:lumOff val="40000"/>
                  </a:schemeClr>
                </a:solidFill>
              </a:rPr>
              <a:t>It is also known as the 'Jacobean Train' and the 'Harry Potter Steam Train'.</a:t>
            </a:r>
            <a:endParaRPr lang="en-IN" sz="2000" dirty="0">
              <a:solidFill>
                <a:schemeClr val="tx2">
                  <a:lumMod val="60000"/>
                  <a:lumOff val="40000"/>
                </a:schemeClr>
              </a:solidFill>
            </a:endParaRPr>
          </a:p>
        </p:txBody>
      </p:sp>
      <p:pic>
        <p:nvPicPr>
          <p:cNvPr id="6" name="Picture 5">
            <a:extLst>
              <a:ext uri="{FF2B5EF4-FFF2-40B4-BE49-F238E27FC236}">
                <a16:creationId xmlns:a16="http://schemas.microsoft.com/office/drawing/2014/main" id="{BEA26DAC-8634-4408-A7F3-43F9D2F3ADD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78728" y="883204"/>
            <a:ext cx="4028542" cy="210491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454750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C6773C0F-6C49-4513-A187-54D453796AB1}"/>
              </a:ext>
            </a:extLst>
          </p:cNvPr>
          <p:cNvSpPr txBox="1"/>
          <p:nvPr/>
        </p:nvSpPr>
        <p:spPr>
          <a:xfrm>
            <a:off x="466165" y="598856"/>
            <a:ext cx="5244353" cy="369332"/>
          </a:xfrm>
          <a:prstGeom prst="rect">
            <a:avLst/>
          </a:prstGeom>
          <a:noFill/>
        </p:spPr>
        <p:txBody>
          <a:bodyPr wrap="square" rtlCol="0">
            <a:spAutoFit/>
          </a:bodyPr>
          <a:lstStyle/>
          <a:p>
            <a:r>
              <a:rPr lang="en-US" dirty="0">
                <a:solidFill>
                  <a:schemeClr val="accent6"/>
                </a:solidFill>
                <a:latin typeface="Constantia" panose="02030602050306030303" pitchFamily="18" charset="0"/>
              </a:rPr>
              <a:t>Legacy and impact:</a:t>
            </a:r>
            <a:endParaRPr lang="en-IN" dirty="0">
              <a:solidFill>
                <a:schemeClr val="accent6"/>
              </a:solidFill>
            </a:endParaRPr>
          </a:p>
        </p:txBody>
      </p:sp>
      <p:sp>
        <p:nvSpPr>
          <p:cNvPr id="4" name="TextBox 3">
            <a:extLst>
              <a:ext uri="{FF2B5EF4-FFF2-40B4-BE49-F238E27FC236}">
                <a16:creationId xmlns:a16="http://schemas.microsoft.com/office/drawing/2014/main" id="{21B8296A-3DFF-4FC7-A9FE-80EF6070DE01}"/>
              </a:ext>
            </a:extLst>
          </p:cNvPr>
          <p:cNvSpPr txBox="1"/>
          <p:nvPr/>
        </p:nvSpPr>
        <p:spPr>
          <a:xfrm>
            <a:off x="896471" y="1237130"/>
            <a:ext cx="6096000" cy="1754326"/>
          </a:xfrm>
          <a:prstGeom prst="rect">
            <a:avLst/>
          </a:prstGeom>
          <a:noFill/>
        </p:spPr>
        <p:txBody>
          <a:bodyPr wrap="square" rtlCol="0">
            <a:spAutoFit/>
          </a:bodyPr>
          <a:lstStyle/>
          <a:p>
            <a:r>
              <a:rPr lang="en-US" dirty="0">
                <a:solidFill>
                  <a:schemeClr val="tx2">
                    <a:lumMod val="60000"/>
                    <a:lumOff val="40000"/>
                  </a:schemeClr>
                </a:solidFill>
                <a:latin typeface="Bell MT" panose="02020503060305020303" pitchFamily="18" charset="0"/>
                <a:ea typeface="Cascadia Mono Light" panose="020B0609020000020004" pitchFamily="49" charset="0"/>
                <a:cs typeface="Cascadia Mono Light" panose="020B0609020000020004" pitchFamily="49" charset="0"/>
              </a:rPr>
              <a:t>Something like Harry Potter had a hand in helping millions of readers and moviegoers realize what they like. It's not so easy to just dismiss something like that entirely. The author, on the other hand, can be ignored. Once their work is out in the world, it no longer belongs to them in many ways.</a:t>
            </a:r>
            <a:endParaRPr lang="en-IN" dirty="0">
              <a:solidFill>
                <a:schemeClr val="tx2">
                  <a:lumMod val="60000"/>
                  <a:lumOff val="40000"/>
                </a:schemeClr>
              </a:solidFill>
              <a:latin typeface="Bell MT" panose="02020503060305020303" pitchFamily="18" charset="0"/>
              <a:ea typeface="Cascadia Mono Light" panose="020B0609020000020004" pitchFamily="49" charset="0"/>
              <a:cs typeface="Cascadia Mono Light" panose="020B0609020000020004" pitchFamily="49" charset="0"/>
            </a:endParaRPr>
          </a:p>
          <a:p>
            <a:endParaRPr lang="en-IN" dirty="0">
              <a:solidFill>
                <a:schemeClr val="tx2">
                  <a:lumMod val="60000"/>
                  <a:lumOff val="40000"/>
                </a:schemeClr>
              </a:solidFill>
              <a:latin typeface="Bell MT" panose="02020503060305020303" pitchFamily="18" charset="0"/>
              <a:ea typeface="Cascadia Mono Light" panose="020B0609020000020004" pitchFamily="49" charset="0"/>
              <a:cs typeface="Cascadia Mono Light" panose="020B0609020000020004" pitchFamily="49" charset="0"/>
            </a:endParaRPr>
          </a:p>
        </p:txBody>
      </p:sp>
      <p:pic>
        <p:nvPicPr>
          <p:cNvPr id="7" name="Picture 4" descr="Harry Potter]'s Legacy: Often Imitated, Never Repeated – did you blank it?">
            <a:extLst>
              <a:ext uri="{FF2B5EF4-FFF2-40B4-BE49-F238E27FC236}">
                <a16:creationId xmlns:a16="http://schemas.microsoft.com/office/drawing/2014/main" id="{944CDB26-2885-4B1A-ABFC-43EF0DBFA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8952" y="783522"/>
            <a:ext cx="3536577" cy="313413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118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94A6E6ED-7C00-4D15-A1BC-CCED91EC0B3A}"/>
              </a:ext>
            </a:extLst>
          </p:cNvPr>
          <p:cNvSpPr txBox="1"/>
          <p:nvPr/>
        </p:nvSpPr>
        <p:spPr>
          <a:xfrm>
            <a:off x="304799" y="466165"/>
            <a:ext cx="4401671" cy="461665"/>
          </a:xfrm>
          <a:prstGeom prst="rect">
            <a:avLst/>
          </a:prstGeom>
          <a:noFill/>
        </p:spPr>
        <p:txBody>
          <a:bodyPr wrap="square" rtlCol="0">
            <a:spAutoFit/>
          </a:bodyPr>
          <a:lstStyle/>
          <a:p>
            <a:r>
              <a:rPr lang="en-US" sz="2400" dirty="0">
                <a:solidFill>
                  <a:schemeClr val="accent6"/>
                </a:solidFill>
                <a:latin typeface="Constantia" panose="02030602050306030303" pitchFamily="18" charset="0"/>
              </a:rPr>
              <a:t>Conclusion:</a:t>
            </a:r>
            <a:endParaRPr lang="en-IN" sz="2400" dirty="0">
              <a:solidFill>
                <a:schemeClr val="accent6"/>
              </a:solidFill>
            </a:endParaRPr>
          </a:p>
        </p:txBody>
      </p:sp>
      <p:sp>
        <p:nvSpPr>
          <p:cNvPr id="4" name="TextBox 3">
            <a:extLst>
              <a:ext uri="{FF2B5EF4-FFF2-40B4-BE49-F238E27FC236}">
                <a16:creationId xmlns:a16="http://schemas.microsoft.com/office/drawing/2014/main" id="{0DA679ED-D037-4765-B630-92167BB7F8B9}"/>
              </a:ext>
            </a:extLst>
          </p:cNvPr>
          <p:cNvSpPr txBox="1"/>
          <p:nvPr/>
        </p:nvSpPr>
        <p:spPr>
          <a:xfrm>
            <a:off x="878541" y="1093695"/>
            <a:ext cx="5602942" cy="2031325"/>
          </a:xfrm>
          <a:prstGeom prst="rect">
            <a:avLst/>
          </a:prstGeom>
          <a:noFill/>
        </p:spPr>
        <p:txBody>
          <a:bodyPr wrap="square" rtlCol="0">
            <a:spAutoFit/>
          </a:bodyPr>
          <a:lstStyle/>
          <a:p>
            <a:r>
              <a:rPr lang="en-US" dirty="0">
                <a:solidFill>
                  <a:schemeClr val="tx2">
                    <a:lumMod val="60000"/>
                    <a:lumOff val="40000"/>
                  </a:schemeClr>
                </a:solidFill>
                <a:latin typeface="Constantia" panose="02030602050306030303" pitchFamily="18" charset="0"/>
              </a:rPr>
              <a:t>Harry surrenders to Voldemort and dies. The defenders of Hogwarts continue to fight on; Harry is resurrected, faces Voldemort and kills him. An epilogue titled "Nineteen Years Later" describes the lives of the surviving characters and the impact of Voldemort's death.</a:t>
            </a:r>
            <a:endParaRPr lang="en-IN" dirty="0">
              <a:solidFill>
                <a:schemeClr val="tx2">
                  <a:lumMod val="60000"/>
                  <a:lumOff val="40000"/>
                </a:schemeClr>
              </a:solidFill>
              <a:latin typeface="Constantia" panose="02030602050306030303" pitchFamily="18" charset="0"/>
            </a:endParaRPr>
          </a:p>
          <a:p>
            <a:endParaRPr lang="en-IN" dirty="0">
              <a:solidFill>
                <a:schemeClr val="tx2">
                  <a:lumMod val="60000"/>
                  <a:lumOff val="40000"/>
                </a:schemeClr>
              </a:solidFill>
            </a:endParaRPr>
          </a:p>
        </p:txBody>
      </p:sp>
    </p:spTree>
    <p:extLst>
      <p:ext uri="{BB962C8B-B14F-4D97-AF65-F5344CB8AC3E}">
        <p14:creationId xmlns:p14="http://schemas.microsoft.com/office/powerpoint/2010/main" val="32134573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30361-F03D-4C5C-882B-AEEA6F2E4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20918"/>
          </a:xfrm>
          <a:prstGeom prst="rect">
            <a:avLst/>
          </a:prstGeom>
        </p:spPr>
      </p:pic>
      <p:sp>
        <p:nvSpPr>
          <p:cNvPr id="2" name="TextBox 1">
            <a:extLst>
              <a:ext uri="{FF2B5EF4-FFF2-40B4-BE49-F238E27FC236}">
                <a16:creationId xmlns:a16="http://schemas.microsoft.com/office/drawing/2014/main" id="{9F220AE7-041F-49D6-8C6E-D8D19C7175FE}"/>
              </a:ext>
            </a:extLst>
          </p:cNvPr>
          <p:cNvSpPr txBox="1"/>
          <p:nvPr/>
        </p:nvSpPr>
        <p:spPr>
          <a:xfrm>
            <a:off x="1335741" y="1057835"/>
            <a:ext cx="5513294" cy="1107996"/>
          </a:xfrm>
          <a:prstGeom prst="rect">
            <a:avLst/>
          </a:prstGeom>
          <a:noFill/>
        </p:spPr>
        <p:txBody>
          <a:bodyPr wrap="square" rtlCol="0">
            <a:spAutoFit/>
          </a:bodyPr>
          <a:lstStyle/>
          <a:p>
            <a:r>
              <a:rPr lang="en-US" sz="6600" dirty="0">
                <a:solidFill>
                  <a:schemeClr val="tx2">
                    <a:lumMod val="60000"/>
                    <a:lumOff val="40000"/>
                  </a:schemeClr>
                </a:solidFill>
                <a:latin typeface="Chiller" panose="04020404031007020602" pitchFamily="82" charset="0"/>
              </a:rPr>
              <a:t>THANK YOU…..!</a:t>
            </a:r>
            <a:endParaRPr lang="en-IN" sz="6600" dirty="0">
              <a:solidFill>
                <a:schemeClr val="tx2">
                  <a:lumMod val="60000"/>
                  <a:lumOff val="40000"/>
                </a:schemeClr>
              </a:solidFill>
              <a:latin typeface="Chiller" panose="04020404031007020602" pitchFamily="82" charset="0"/>
            </a:endParaRPr>
          </a:p>
        </p:txBody>
      </p:sp>
    </p:spTree>
    <p:extLst>
      <p:ext uri="{BB962C8B-B14F-4D97-AF65-F5344CB8AC3E}">
        <p14:creationId xmlns:p14="http://schemas.microsoft.com/office/powerpoint/2010/main" val="16214670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670</Words>
  <Application>Microsoft Office PowerPoint</Application>
  <PresentationFormat>Widescreen</PresentationFormat>
  <Paragraphs>54</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Bell MT</vt:lpstr>
      <vt:lpstr>Calibri</vt:lpstr>
      <vt:lpstr>Calibri Light</vt:lpstr>
      <vt:lpstr>Calisto MT</vt:lpstr>
      <vt:lpstr>Cascadia Mono Light</vt:lpstr>
      <vt:lpstr>Century</vt:lpstr>
      <vt:lpstr>Chiller</vt:lpstr>
      <vt:lpstr>Constantia</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dc:creator>
  <cp:lastModifiedBy>Ravi</cp:lastModifiedBy>
  <cp:revision>9</cp:revision>
  <dcterms:created xsi:type="dcterms:W3CDTF">2023-11-26T14:44:20Z</dcterms:created>
  <dcterms:modified xsi:type="dcterms:W3CDTF">2023-11-26T15:56:50Z</dcterms:modified>
</cp:coreProperties>
</file>